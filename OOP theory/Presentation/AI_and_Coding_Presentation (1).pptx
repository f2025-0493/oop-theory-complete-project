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64592"/>
            <a:ext cx="2011680" cy="49789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4630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You Have AI.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1719072"/>
            <a:ext cx="6492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Do You Still Need to Understand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and Write Code?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3246120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40156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FA8BF"/>
                </a:solidFill>
              </a:rPr>
              <a:t>A Critical Look at Coding in the Age of Generative 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835" y="3767455"/>
            <a:ext cx="4571365" cy="1216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1" name="Text Box 10"/>
          <p:cNvSpPr txBox="1"/>
          <p:nvPr/>
        </p:nvSpPr>
        <p:spPr>
          <a:xfrm>
            <a:off x="4899025" y="2954020"/>
            <a:ext cx="4227195" cy="1999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Gruop Members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BS Artificial Intelligence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Muhammad Junaid Khan (F2025-0493)</a:t>
            </a:r>
            <a:endParaRPr lang="en-US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Muhammad Hasant Khan (F2025-0206)</a:t>
            </a:r>
            <a:endParaRPr lang="en-US">
              <a:solidFill>
                <a:schemeClr val="bg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Tabeer Zahra (F2025-0637)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129030" y="42341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Instructor: Mam. Huda Sarfraz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Setting the Scene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08483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The AI Coding Boom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542032"/>
            <a:ext cx="246888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A3A"/>
                </a:solidFill>
              </a:rPr>
              <a:t>Tools like GitHub Copilot, Cursor, and Claude can generate, debug, and explain code in seconds. Developers are now 'prompting' as much as programming.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37560" y="13258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32588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630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08483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The Job Market Shift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0" y="2542032"/>
            <a:ext cx="246888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A3A"/>
                </a:solidFill>
              </a:rPr>
              <a:t>Tech layoffs in 2025–2026 signal a new reality: AI doesn't just assist developers—it is replacing some of them, especially at junior and entry levels.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63640" y="13258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132588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630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08483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The Central Question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00800" y="2542032"/>
            <a:ext cx="246888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A2A3A"/>
                </a:solidFill>
              </a:rPr>
              <a:t>If AI can write code for us, should we still invest years learning syntax, algorithms, and computer science fundamentals?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8BF"/>
                </a:solidFill>
              </a:rPr>
              <a:t>Context sources: Jensen Huang (NVIDIA CEO) · Andrew Ng (Coursera) · Local industry voices (Arbisoft, Tkxel CEOs)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AGAINST — EVIDENCE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90% of Code Will Be AI-Generated by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20040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82880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90%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11480" y="310896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of code predicted to be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AI-generated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886200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BF"/>
                </a:solidFill>
              </a:rPr>
              <a:t>vs.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FA8BF"/>
                </a:solidFill>
              </a:rPr>
              <a:t>Today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1325880"/>
            <a:ext cx="4892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0" y="1463040"/>
            <a:ext cx="452628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What this means: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</a:rPr>
              <a:t>Industry analysts project that the vast majority of code written in 2026 will be produced or significantly assisted by AI tools, with developers acting as 'orchestrators' rather than line-by-line authors.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Why it challenges traditional coding: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</a:rPr>
              <a:t>If AI handles up to 90% of implementation, the argument goes that deep syntax mastery becomes less critical — like knowing how to typeset a book when word processors exist.</a:t>
            </a:r>
            <a:endParaRPr lang="en-US" sz="1000" dirty="0">
              <a:solidFill>
                <a:srgbClr val="1A2A3A"/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0D1B2A"/>
                </a:solidFill>
              </a:rPr>
              <a:t>AI-Generated Coding in Industry</a:t>
            </a:r>
            <a:endParaRPr lang="en-US" sz="1200" b="1" dirty="0">
              <a:solidFill>
                <a:srgbClr val="0D1B2A"/>
              </a:solidFill>
            </a:endParaRPr>
          </a:p>
          <a:p>
            <a:pPr marL="0" indent="0">
              <a:buNone/>
            </a:pPr>
            <a:r>
              <a:rPr lang="en-US" altLang="en-US" sz="1200" dirty="0"/>
              <a:t>Some AI-focused companies report that 25%–75% of their software code is generated by AI, demonstrating a significant increase in development productivity.</a:t>
            </a:r>
            <a:endParaRPr lang="en-US" altLang="en-US" sz="1200" dirty="0"/>
          </a:p>
          <a:p>
            <a:pPr marL="0" indent="0">
              <a:buNone/>
            </a:pPr>
            <a:r>
              <a:rPr lang="en-US" altLang="en-US" sz="1200" dirty="0"/>
              <a:t>Reference: BBC News. “AI is coming for software jobs. Can coders survive?” (2025).</a:t>
            </a:r>
            <a:endParaRPr lang="en-US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2" name="Text 10"/>
          <p:cNvSpPr/>
          <p:nvPr/>
        </p:nvSpPr>
        <p:spPr>
          <a:xfrm>
            <a:off x="274320" y="4745736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8BF"/>
                </a:solidFill>
              </a:rPr>
              <a:t>📎  Source: "2026: AI Users vs The Unemployed" — BBC Community |</a:t>
            </a:r>
            <a:r>
              <a:rPr lang="en-US" altLang="en-US" sz="750" dirty="0">
                <a:solidFill>
                  <a:schemeClr val="bg1"/>
                </a:solidFill>
              </a:rPr>
              <a:t>https://www.bbc.com/news/articles/cde5y2x51y8o</a:t>
            </a:r>
            <a:endParaRPr lang="en-US" alt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AGAINST — EVIDENCE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Junior Developer Crisis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651760" cy="2194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1732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−30%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Tech internship postings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since 2023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2194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41732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70%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337560" y="25146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of hiring managers say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can replace intern tasks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280160"/>
            <a:ext cx="269748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389888"/>
            <a:ext cx="237744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Entry-Level Jobs at Risk
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Tech-specific internship postings fell 30% since 2023. Seven in ten hiring managers now believe AI can competently perform the tasks previously assigned to junior developers — from writing boilerplate to fixing simple bugs.
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The implication: if companies no longer need to hire and train junior coders, the traditional pipeline for developing deep coding expertise is being disrupted at its very start.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639312"/>
            <a:ext cx="544068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712464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1A2A3A"/>
                </a:solidFill>
              </a:rPr>
              <a:t>Stack Overflow's 2025 research found that the traditional 'learn → intern → junior role' pathway is breaking down. Companies are restructuring teams around AI-multiplied senior talent rather than building through entry-level hiring.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7" name="Text 15"/>
          <p:cNvSpPr/>
          <p:nvPr/>
        </p:nvSpPr>
        <p:spPr>
          <a:xfrm>
            <a:off x="274320" y="4745736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8BF"/>
                </a:solidFill>
              </a:rPr>
              <a:t>📎  Source: "AI vs Gen Z: The Career Pathway for Junior Developers" — Stack Overflow Blog | stackoverflow.blog/2025/12/23/ai-vs-gen-z-how-ai-has-changed-the-career-pathway-for-junior-developers/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AGAINST — EVIDENCE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Corporate Restructuring: Fewer Developers Needed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2743200" cy="502920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4688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buFont typeface="Arial" panose="020B0604020202020204" pitchFamily="34" charset="0"/>
              <a:buNone/>
            </a:pP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Meta is leveraging AI to develop and deploy products with smaller engineering teams.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AI tools automate coding and development tasks, increasing team productivity.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The company aims to maintain or improve output while reducing headcount growth.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Engineers can focus more on high-level design, strategy, and innovation.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This approach reflects a broader industry trend toward AI-assisted software development.</a:t>
            </a:r>
            <a:endParaRPr lang="en-US" alt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9272" y="129844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298448"/>
            <a:ext cx="2743200" cy="502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298448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Amazon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56432" y="1874520"/>
            <a:ext cx="24688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Amazon uses internal AI tools to automate parts of code review, testing, and deployment processes.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Automation reduces repetitive engineering tasks and speeds up software delivery.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Teams can manage larger workloads with greater efficiency and fewer manual interventions.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AI-assisted workflows enable team consolidation while maintaining productivity.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Engineers can focus more on complex problem-solving, architecture, and innovation.</a:t>
            </a:r>
            <a:endParaRPr lang="en-US" alt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27064" y="129844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27064" y="1298448"/>
            <a:ext cx="2743200" cy="502920"/>
          </a:xfrm>
          <a:prstGeom prst="rect">
            <a:avLst/>
          </a:prstGeom>
          <a:solidFill>
            <a:srgbClr val="3E9C35"/>
          </a:solidFill>
          <a:ln w="12700">
            <a:solidFill>
              <a:srgbClr val="3E9C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298448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Block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4224" y="1874520"/>
            <a:ext cx="24688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buFont typeface="Arial" panose="020B0604020202020204" pitchFamily="34" charset="0"/>
              <a:buNone/>
            </a:pP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Block has stated that AI enables the company to operate with significantly smaller teams.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AI tools increase productivity by automating routine development and operational tasks.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Higher efficiency reduces the need for additional engineering hires.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Teams can deliver products and features with fewer personnel.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The company views AI as a way to scale output without proportional workforce growth.</a:t>
            </a:r>
            <a:endParaRPr lang="en-US" alt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700016"/>
            <a:ext cx="8321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6666"/>
                </a:solidFill>
              </a:rPr>
              <a:t>Thousands of tech layoffs in 2025–2026 were directly attributed to AI efficiency gains, not economic downturns. This signals a structural — not cyclical — change in how many engineers companies need to hire.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9" name="Text 17"/>
          <p:cNvSpPr/>
          <p:nvPr/>
        </p:nvSpPr>
        <p:spPr>
          <a:xfrm>
            <a:off x="274320" y="4745736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8BF"/>
                </a:solidFill>
              </a:rPr>
              <a:t>📎  Source: "AI Job Displacement 2025: Which Jobs Are At Risk?" — Final Round AI | finalroundai.com/blog/ai-replacing-jobs-2025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716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0" y="128016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CASE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3200400" y="210312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FOR LEARNING TO CODE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2880360"/>
            <a:ext cx="5029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0" y="299923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BF"/>
                </a:solidFill>
              </a:rPr>
              <a:t>Evidence that human understanding remains irreplaceable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FOR — EVIDENCE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Quality Gap: AI Code Doubles 'Code Churn'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200400" cy="3337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73736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2×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11480" y="292608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increase in code churn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(code rewritten within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 weeks of being written)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416052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8BF"/>
                </a:solidFill>
              </a:rPr>
              <a:t>Since widespread AI coding tool adoption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94760" y="1298448"/>
            <a:ext cx="4937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50208" y="1417320"/>
            <a:ext cx="4617720" cy="3127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What is Code Churn?
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Code churn measures how quickly written code must be rewritten — a proxy for quality. High churn = low-quality, poorly thought-out code.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Why this matters for skills:
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AI generates syntactically correct but architecturally weak code. Someone must be capable of identifying and fixing these problems. Without engineers who deeply understand code, this churn is invisible — until it becomes technical debt or a security breach.
</a:t>
            </a:r>
            <a:endParaRPr lang="en-US" sz="1200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0077A8"/>
                </a:solidFill>
              </a:rPr>
              <a:t>"The Mediocrity Trap"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</a:rPr>
              <a:t>AI lowers the floor for writing code but also raises the ceiling requirement for reviewing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2" name="Text 10"/>
          <p:cNvSpPr/>
          <p:nvPr/>
        </p:nvSpPr>
        <p:spPr>
          <a:xfrm>
            <a:off x="274320" y="4745736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8BF"/>
                </a:solidFill>
              </a:rPr>
              <a:t>📎  Source: "2026: AI Users vs The Unemployed" — DEV Community | dev.to/sautetelvis/2026-ai-users-vs-the-unemployed-3p2i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FOR — EVIDENCE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Skill Atrophy: The Pipeline at Risk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274320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Juniors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Stop Learning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46888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Companies are reducing some entry-level roles as AI automates routine coding and support tasks.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Many new graduates rely heavily on AI tools to generate code and solve problems.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Overreliance on AI can limit understanding of core concepts such as algorithms, data structures, and debugging.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Junior developers may skip the learning process, making it harder to build strong technical foundations.</a:t>
            </a:r>
            <a:endParaRPr lang="en-US" alt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2468880"/>
            <a:ext cx="128016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129844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1298448"/>
            <a:ext cx="274320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2984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22192" y="129844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Knowledge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Gap Grows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56432" y="1828800"/>
            <a:ext cx="246888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Experienced senior engineers are gradually retiring from the workforce.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Fewer professionals are developing deep systems-level expertise due to increased reliance on AI tools.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Critical knowledge may not be fully transferred to the next generation of developers.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A growing knowledge gap could emerge between senior experts and junior engineers.</a:t>
            </a:r>
            <a:endParaRPr lang="en-US" alt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62472" y="2468880"/>
            <a:ext cx="128016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7064" y="1298448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298448"/>
            <a:ext cx="2743200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2984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9984" y="129844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Senior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Drought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64224" y="1828800"/>
            <a:ext cx="246888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Over the next 5–10 years, there may be a shortage of experienced senior engineers.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Fewer professionals may develop the expertise needed to evaluate and guide AI-generated solutions.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Organizations could struggle to find “AI orchestrators” who understand both the technology and the underlying systems.</a:t>
            </a:r>
            <a:endParaRPr lang="en-US" altLang="en-US" sz="95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950" dirty="0"/>
              <a:t>Reliance on AI without deep technical learning may reduce the pipeline of future experts.</a:t>
            </a:r>
            <a:endParaRPr lang="en-US" alt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690872"/>
            <a:ext cx="832104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0916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56404"/>
                </a:solidFill>
              </a:rPr>
              <a:t>⚠  Stack Overflow warns: companies optimizing for short-term AI efficiency risk creating a future senior talent drought with no pipeline to replenish it.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5" name="Text 23"/>
          <p:cNvSpPr/>
          <p:nvPr/>
        </p:nvSpPr>
        <p:spPr>
          <a:xfrm>
            <a:off x="274320" y="4745736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8BF"/>
                </a:solidFill>
              </a:rPr>
              <a:t>📎  Source: "AI vs Gen Z: The Career Pathway for Junior Developers" — Stack Overflow Blog | stackoverflow.blog/2025/12/23/ai-vs-gen-z-how-ai-has-changed-the-career-pathway-for-junior-developers/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FOR — EVIDENCE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10% AI Cannot Touch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0" cy="3657600"/>
          </a:xfrm>
          <a:prstGeom prst="ellipse">
            <a:avLst/>
          </a:prstGeom>
          <a:solidFill>
            <a:srgbClr val="0D1B2A"/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45920"/>
            <a:ext cx="2926080" cy="2926080"/>
          </a:xfrm>
          <a:prstGeom prst="ellipse">
            <a:avLst/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Human-Only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Domain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298448"/>
            <a:ext cx="4343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298448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554480"/>
            <a:ext cx="475488" cy="475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84064" y="137160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Security &amp; Ethics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84064" y="1700784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A3A"/>
                </a:solidFill>
              </a:rPr>
              <a:t>AI cannot assess whether a system is ethical or secure in context. Human judgment is required to weigh trade-offs, legal implications, and moral risks.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89120" y="2505456"/>
            <a:ext cx="4343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89120" y="2505456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761488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84064" y="2578608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System Architecture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084064" y="2907792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A3A"/>
                </a:solidFill>
              </a:rPr>
              <a:t>Designing systems that are scalable, maintainable, and aligned with business goals requires deep understanding that AI cannot fully replicate.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389120" y="3712464"/>
            <a:ext cx="4343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389120" y="3712464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968496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84064" y="3785616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Business Logic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084064" y="411480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A3A"/>
                </a:solidFill>
              </a:rPr>
              <a:t>Understanding what software must do — not just how — requires domain expertise and stakeholder empathy that goes far beyond code generation.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5" name="Text 20"/>
          <p:cNvSpPr/>
          <p:nvPr/>
        </p:nvSpPr>
        <p:spPr>
          <a:xfrm>
            <a:off x="274320" y="4745736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FA8BF"/>
                </a:solidFill>
              </a:rPr>
              <a:t>📎  Source: "AI Job Displacement 2025: Which Jobs Are At Risk?" — Final Round AI | finalroundai.com/blog/ai-replacing-jobs-2025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My Perspective: The Orchestrator's Dilemma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8321040" cy="960120"/>
          </a:xfrm>
          <a:prstGeom prst="rect">
            <a:avLst/>
          </a:prstGeom>
          <a:solidFill>
            <a:srgbClr val="F8F0FF"/>
          </a:solidFill>
          <a:ln w="12700">
            <a:solidFill>
              <a:srgbClr val="C39B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64008" cy="9601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8001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235A"/>
                </a:solidFill>
              </a:rPr>
              <a:t>"Understanding is the new writing. You no longer need to type every line — but you must be able to read, judge, and reject what AI produces."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377440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774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 Agree That...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8404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A2A3A"/>
                </a:solidFill>
              </a:rPr>
              <a:t>The 'syntax-obsessed' era is ending — knowing every method by heart matters less.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A2A3A"/>
                </a:solidFill>
              </a:rPr>
              <a:t>AI genuinely accelerates learning: it removes friction, explains errors, and lets beginners ship things faster.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A2A3A"/>
                </a:solidFill>
              </a:rPr>
              <a:t>The developer's role IS shifting — prompt engineering and system thinking are valuable new skills.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709160" y="237744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377440"/>
            <a:ext cx="41148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3774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But I Also Believe...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8404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A2A3A"/>
                </a:solidFill>
              </a:rPr>
              <a:t>You cannot audit what you don't understand. AI code is not automatically correct or secure.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A2A3A"/>
                </a:solidFill>
              </a:rPr>
              <a:t>Bypassing struggle means bypassing learning. Discomfort builds intuition that AI cannot give you.</a:t>
            </a:r>
            <a:endParaRPr lang="en-US" sz="920" dirty="0"/>
          </a:p>
          <a:p>
            <a:pPr marL="342900" indent="-342900">
              <a:buSzPct val="100000"/>
              <a:buChar char="•"/>
            </a:pPr>
            <a:r>
              <a:rPr lang="en-US" sz="920" dirty="0">
                <a:solidFill>
                  <a:srgbClr val="1A2A3A"/>
                </a:solidFill>
              </a:rPr>
              <a:t>The 'orchestrator' still needs to understand the orchestra — or they will give bad directions.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B4D8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Orchestrator's Mandate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83210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54864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548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Understanding IS the New Writing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749808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You may not write every line, but you must understand every line to judge it. Without fundamentals, you cannot detect the "Mediocrity Trap."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596896"/>
            <a:ext cx="83210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596896"/>
            <a:ext cx="548640" cy="10058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96896"/>
            <a:ext cx="548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688336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Survive as a Multiplier, Not a Typist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054096"/>
            <a:ext cx="749808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The job market rewards those who use AI to do the work of three — but this requires the deep knowledge to direct AI accurately and catch its mistakes.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730752"/>
            <a:ext cx="832104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4DB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730752"/>
            <a:ext cx="548640" cy="1005840"/>
          </a:xfrm>
          <a:prstGeom prst="rect">
            <a:avLst/>
          </a:prstGeom>
          <a:solidFill>
            <a:srgbClr val="4DB8FF"/>
          </a:solidFill>
          <a:ln w="12700">
            <a:solidFill>
              <a:srgbClr val="4DB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30752"/>
            <a:ext cx="548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822192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8FF"/>
                </a:solidFill>
              </a:rPr>
              <a:t>Guard the 10% — System, Ethics, Logic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4187952"/>
            <a:ext cx="749808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The highest-value work — architecture, security, ethics, and business reasoning — cannot be delegated to AI. This is where careers are built.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BF"/>
                </a:solidFill>
              </a:rPr>
              <a:t>Coding is transitioning from a manual craft to a supervisory discipline.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Sources &amp; Citations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502920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[1]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"2026: AI Users vs The Unemployed"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</a:rPr>
              <a:t>Sautetelvis — DEV Community,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7589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7A8"/>
                </a:solidFill>
              </a:rPr>
              <a:t>URL: dev.to/sautetelvis/2026-ai-users-vs-the-unemployed-3p2i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05840" y="2075688"/>
            <a:ext cx="7589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Used for: Evidence: 90% AI-generated code prediction, 'orchestrator' role shift, code churn data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8321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468880"/>
            <a:ext cx="502920" cy="1051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6888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[2]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42032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"AI vs Gen Z: How AI Has Changed the Career Pathway for Junior Developers"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</a:rPr>
              <a:t>Stack Overflow Blog, December 23 2025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7589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7A8"/>
                </a:solidFill>
              </a:rPr>
              <a:t>URL: stackoverflow.blog/2025/12/23/ai-vs-gen-z-how-ai-has-changed-the-career-pathway-for-junior-developers/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7589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Used for: Evidence: 30% internship decline, 70% of hiring managers, skill atrophy pipeline risk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8321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657600"/>
            <a:ext cx="502920" cy="10515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6576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[3]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730752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"AI Job Displacement 2025: Which Jobs Are At Risk?"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023360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</a:rPr>
              <a:t>Final Round AI, 2025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7589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7A8"/>
                </a:solidFill>
              </a:rPr>
              <a:t>URL: finalroundai.com/blog/ai-replacing-jobs-2025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05840" y="4453128"/>
            <a:ext cx="7589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Used for: Evidence: Corporate restructuring (Meta, Amazon, Block), layoffs, the 10% human-only domain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1480" y="4809744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999999"/>
                </a:solidFill>
              </a:rPr>
              <a:t>Context (not used as evidence): Jensen Huang / NVIDIA — youtube.com/watch?v=8Pm2xEViNIo  |  Andrew Ng / Coursera — youtube.com/watch?v=XeUAu65unu8  |  Local context — youtube.com/watch?v=qJRryyGr04Q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0B4D8"/>
                </a:solidFill>
              </a:rPr>
              <a:t>AI ASSISTANCE DISCLOSURE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BF"/>
                </a:solidFill>
              </a:rPr>
              <a:t>As required per course instructions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078992"/>
            <a:ext cx="3657600" cy="3657600"/>
          </a:xfrm>
          <a:prstGeom prst="rect">
            <a:avLst/>
          </a:prstGeom>
          <a:solidFill>
            <a:srgbClr val="0A254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078992"/>
            <a:ext cx="36576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7899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(Anthropic)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66420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</a:rPr>
              <a:t>Claude Sonnet 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1560" y="193852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Used for: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2194560"/>
            <a:ext cx="338328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Content generation — structuring arguments for and against coding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Evidence synthesis — connecting statistics to themes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Conclusion writing — drafting 'The Orchestrator's Mandate' framework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Slide narrative — writing explanatory text for each slide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Visual design — generating the PowerPoint layout and structure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0" y="1078992"/>
            <a:ext cx="3657600" cy="3657600"/>
          </a:xfrm>
          <a:prstGeom prst="rect">
            <a:avLst/>
          </a:prstGeom>
          <a:solidFill>
            <a:srgbClr val="0A2540"/>
          </a:solidFill>
          <a:ln w="19050">
            <a:solidFill>
              <a:srgbClr val="34A8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078992"/>
            <a:ext cx="3657600" cy="5029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07899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NotebookLM (Google)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166420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</a:rPr>
              <a:t>Google NotebookLM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66360" y="193852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A853"/>
                </a:solidFill>
              </a:rPr>
              <a:t>Used for: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66360" y="2194560"/>
            <a:ext cx="338328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Source analysis — processing and summarizing the reference articles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Cross-referencing — identifying connections between the three sources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Fact verification — confirming statistics across documents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</a:rPr>
              <a:t>Outline formation — helping identify the key arguments from sources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10761</Words>
  <Application>WPS Presentation</Application>
  <PresentationFormat>On-screen Show (16:9)</PresentationFormat>
  <Paragraphs>304</Paragraphs>
  <Slides>13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Microsoft YaHei</vt:lpstr>
      <vt:lpstr>Arial Unicode MS</vt:lpstr>
      <vt:lpstr>Arial Narrow</vt:lpstr>
      <vt:lpstr>Bahnschrift</vt:lpstr>
      <vt:lpstr>Bahnschrift Light</vt:lpstr>
      <vt:lpstr>Bahnschrift Light Condensed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 Have AI. Do You Still Need to Understand and Write Code?</dc:title>
  <dc:creator>Student Presentation 2026</dc:creator>
  <dc:subject>PptxGenJS Presentation</dc:subject>
  <cp:lastModifiedBy>MUHAMMAD HASNAT KHAN</cp:lastModifiedBy>
  <cp:revision>2</cp:revision>
  <dcterms:created xsi:type="dcterms:W3CDTF">2026-05-23T13:44:00Z</dcterms:created>
  <dcterms:modified xsi:type="dcterms:W3CDTF">2026-05-23T15:12:57Z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63653A09539343428776619B58C3A443_12</vt:lpwstr>
  </property>
</Properties>
</file>